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67895" autoAdjust="0"/>
  </p:normalViewPr>
  <p:slideViewPr>
    <p:cSldViewPr snapToGrid="0">
      <p:cViewPr>
        <p:scale>
          <a:sx n="66" d="100"/>
          <a:sy n="66" d="100"/>
        </p:scale>
        <p:origin x="158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inn Martin" userId="a636d416-188a-4ab1-b84b-fbb027a88d45" providerId="ADAL" clId="{0990C6CC-5F8B-413F-91BB-326F9E842A86}"/>
    <pc:docChg chg="modSld sldOrd modMainMaster">
      <pc:chgData name="Finn Martin" userId="a636d416-188a-4ab1-b84b-fbb027a88d45" providerId="ADAL" clId="{0990C6CC-5F8B-413F-91BB-326F9E842A86}" dt="2026-10-06T10:26:07.145" v="42"/>
      <pc:docMkLst>
        <pc:docMk/>
      </pc:docMkLst>
      <pc:sldChg chg="addSp modSp setBg">
        <pc:chgData name="Finn Martin" userId="a636d416-188a-4ab1-b84b-fbb027a88d45" providerId="ADAL" clId="{0990C6CC-5F8B-413F-91BB-326F9E842A86}" dt="2026-10-06T10:21:32.389" v="25" actId="14100"/>
        <pc:sldMkLst>
          <pc:docMk/>
          <pc:sldMk cId="3143814829" sldId="256"/>
        </pc:sldMkLst>
        <pc:picChg chg="add mod">
          <ac:chgData name="Finn Martin" userId="a636d416-188a-4ab1-b84b-fbb027a88d45" providerId="ADAL" clId="{0990C6CC-5F8B-413F-91BB-326F9E842A86}" dt="2026-10-06T10:21:32.389" v="25" actId="14100"/>
          <ac:picMkLst>
            <pc:docMk/>
            <pc:sldMk cId="3143814829" sldId="256"/>
            <ac:picMk id="4" creationId="{B0869FDD-1EB6-47C3-8E32-E9C1441A28DD}"/>
          </ac:picMkLst>
        </pc:picChg>
      </pc:sldChg>
      <pc:sldChg chg="addSp delSp modSp">
        <pc:chgData name="Finn Martin" userId="a636d416-188a-4ab1-b84b-fbb027a88d45" providerId="ADAL" clId="{0990C6CC-5F8B-413F-91BB-326F9E842A86}" dt="2026-10-06T10:19:50.663" v="18" actId="21"/>
        <pc:sldMkLst>
          <pc:docMk/>
          <pc:sldMk cId="922889536" sldId="257"/>
        </pc:sldMkLst>
        <pc:picChg chg="add del mod">
          <ac:chgData name="Finn Martin" userId="a636d416-188a-4ab1-b84b-fbb027a88d45" providerId="ADAL" clId="{0990C6CC-5F8B-413F-91BB-326F9E842A86}" dt="2026-10-06T10:19:50.663" v="18" actId="21"/>
          <ac:picMkLst>
            <pc:docMk/>
            <pc:sldMk cId="922889536" sldId="257"/>
            <ac:picMk id="1026" creationId="{9CA71769-3DF3-4DAE-8480-BA78C389AF13}"/>
          </ac:picMkLst>
        </pc:picChg>
      </pc:sldChg>
      <pc:sldChg chg="addSp modSp">
        <pc:chgData name="Finn Martin" userId="a636d416-188a-4ab1-b84b-fbb027a88d45" providerId="ADAL" clId="{0990C6CC-5F8B-413F-91BB-326F9E842A86}" dt="2026-10-06T10:25:34.579" v="40"/>
        <pc:sldMkLst>
          <pc:docMk/>
          <pc:sldMk cId="3151287088" sldId="259"/>
        </pc:sldMkLst>
        <pc:spChg chg="add mod">
          <ac:chgData name="Finn Martin" userId="a636d416-188a-4ab1-b84b-fbb027a88d45" providerId="ADAL" clId="{0990C6CC-5F8B-413F-91BB-326F9E842A86}" dt="2026-10-06T10:25:34.579" v="40"/>
          <ac:spMkLst>
            <pc:docMk/>
            <pc:sldMk cId="3151287088" sldId="259"/>
            <ac:spMk id="5" creationId="{3D566ADD-ADF9-451F-988F-275998A91563}"/>
          </ac:spMkLst>
        </pc:spChg>
        <pc:picChg chg="add mod">
          <ac:chgData name="Finn Martin" userId="a636d416-188a-4ab1-b84b-fbb027a88d45" providerId="ADAL" clId="{0990C6CC-5F8B-413F-91BB-326F9E842A86}" dt="2026-10-06T10:25:29.844" v="39" actId="167"/>
          <ac:picMkLst>
            <pc:docMk/>
            <pc:sldMk cId="3151287088" sldId="259"/>
            <ac:picMk id="4" creationId="{ECB7FEF8-39CF-42A1-BC84-93E1126A6E32}"/>
          </ac:picMkLst>
        </pc:picChg>
      </pc:sldChg>
      <pc:sldChg chg="addSp modSp">
        <pc:chgData name="Finn Martin" userId="a636d416-188a-4ab1-b84b-fbb027a88d45" providerId="ADAL" clId="{0990C6CC-5F8B-413F-91BB-326F9E842A86}" dt="2026-10-06T10:26:07.145" v="42"/>
        <pc:sldMkLst>
          <pc:docMk/>
          <pc:sldMk cId="292996925" sldId="260"/>
        </pc:sldMkLst>
        <pc:spChg chg="add mod">
          <ac:chgData name="Finn Martin" userId="a636d416-188a-4ab1-b84b-fbb027a88d45" providerId="ADAL" clId="{0990C6CC-5F8B-413F-91BB-326F9E842A86}" dt="2026-10-06T10:25:35.683" v="41"/>
          <ac:spMkLst>
            <pc:docMk/>
            <pc:sldMk cId="292996925" sldId="260"/>
            <ac:spMk id="5" creationId="{C7D815DD-587F-43BE-8802-7B5A533380CE}"/>
          </ac:spMkLst>
        </pc:spChg>
        <pc:spChg chg="add mod">
          <ac:chgData name="Finn Martin" userId="a636d416-188a-4ab1-b84b-fbb027a88d45" providerId="ADAL" clId="{0990C6CC-5F8B-413F-91BB-326F9E842A86}" dt="2026-10-06T10:26:07.145" v="42"/>
          <ac:spMkLst>
            <pc:docMk/>
            <pc:sldMk cId="292996925" sldId="260"/>
            <ac:spMk id="6" creationId="{E0CAB26F-C8EB-44E7-A311-4DB6C9391B35}"/>
          </ac:spMkLst>
        </pc:spChg>
        <pc:picChg chg="add mod">
          <ac:chgData name="Finn Martin" userId="a636d416-188a-4ab1-b84b-fbb027a88d45" providerId="ADAL" clId="{0990C6CC-5F8B-413F-91BB-326F9E842A86}" dt="2026-10-06T10:25:24.212" v="38" actId="167"/>
          <ac:picMkLst>
            <pc:docMk/>
            <pc:sldMk cId="292996925" sldId="260"/>
            <ac:picMk id="4" creationId="{6D108182-82C6-4518-8221-BB31D299A228}"/>
          </ac:picMkLst>
        </pc:picChg>
      </pc:sldChg>
      <pc:sldChg chg="addSp delSp modSp">
        <pc:chgData name="Finn Martin" userId="a636d416-188a-4ab1-b84b-fbb027a88d45" providerId="ADAL" clId="{0990C6CC-5F8B-413F-91BB-326F9E842A86}" dt="2026-10-06T10:23:41.814" v="34" actId="478"/>
        <pc:sldMkLst>
          <pc:docMk/>
          <pc:sldMk cId="2464820065" sldId="262"/>
        </pc:sldMkLst>
        <pc:spChg chg="add del mod">
          <ac:chgData name="Finn Martin" userId="a636d416-188a-4ab1-b84b-fbb027a88d45" providerId="ADAL" clId="{0990C6CC-5F8B-413F-91BB-326F9E842A86}" dt="2026-10-06T10:22:49.144" v="27"/>
          <ac:spMkLst>
            <pc:docMk/>
            <pc:sldMk cId="2464820065" sldId="262"/>
            <ac:spMk id="4" creationId="{BED2C0CF-3E06-4609-AD50-95C6ACC18C8C}"/>
          </ac:spMkLst>
        </pc:spChg>
        <pc:picChg chg="add del mod">
          <ac:chgData name="Finn Martin" userId="a636d416-188a-4ab1-b84b-fbb027a88d45" providerId="ADAL" clId="{0990C6CC-5F8B-413F-91BB-326F9E842A86}" dt="2026-10-06T10:23:41.814" v="34" actId="478"/>
          <ac:picMkLst>
            <pc:docMk/>
            <pc:sldMk cId="2464820065" sldId="262"/>
            <ac:picMk id="2052" creationId="{7D69C1B3-7E78-43B0-A4F0-95CADEDC202D}"/>
          </ac:picMkLst>
        </pc:picChg>
      </pc:sldChg>
      <pc:sldChg chg="ord">
        <pc:chgData name="Finn Martin" userId="a636d416-188a-4ab1-b84b-fbb027a88d45" providerId="ADAL" clId="{0990C6CC-5F8B-413F-91BB-326F9E842A86}" dt="2026-10-06T10:14:59.286" v="0"/>
        <pc:sldMkLst>
          <pc:docMk/>
          <pc:sldMk cId="2388609551" sldId="263"/>
        </pc:sldMkLst>
      </pc:sldChg>
      <pc:sldChg chg="ord">
        <pc:chgData name="Finn Martin" userId="a636d416-188a-4ab1-b84b-fbb027a88d45" providerId="ADAL" clId="{0990C6CC-5F8B-413F-91BB-326F9E842A86}" dt="2026-10-06T10:25:03.910" v="35"/>
        <pc:sldMkLst>
          <pc:docMk/>
          <pc:sldMk cId="3868232633" sldId="264"/>
        </pc:sldMkLst>
      </pc:sldChg>
      <pc:sldMasterChg chg="setBg modSldLayout">
        <pc:chgData name="Finn Martin" userId="a636d416-188a-4ab1-b84b-fbb027a88d45" providerId="ADAL" clId="{0990C6CC-5F8B-413F-91BB-326F9E842A86}" dt="2026-10-06T10:17:21.952" v="13" actId="207"/>
        <pc:sldMasterMkLst>
          <pc:docMk/>
          <pc:sldMasterMk cId="968394455" sldId="2147483648"/>
        </pc:sldMasterMkLst>
        <pc:sldLayoutChg chg="modSp setBg">
          <pc:chgData name="Finn Martin" userId="a636d416-188a-4ab1-b84b-fbb027a88d45" providerId="ADAL" clId="{0990C6CC-5F8B-413F-91BB-326F9E842A86}" dt="2026-10-06T10:16:56.814" v="6" actId="207"/>
          <pc:sldLayoutMkLst>
            <pc:docMk/>
            <pc:sldMasterMk cId="968394455" sldId="2147483648"/>
            <pc:sldLayoutMk cId="4120372891" sldId="2147483649"/>
          </pc:sldLayoutMkLst>
          <pc:spChg chg="mod">
            <ac:chgData name="Finn Martin" userId="a636d416-188a-4ab1-b84b-fbb027a88d45" providerId="ADAL" clId="{0990C6CC-5F8B-413F-91BB-326F9E842A86}" dt="2026-10-06T10:16:54.718" v="5" actId="207"/>
            <ac:spMkLst>
              <pc:docMk/>
              <pc:sldMasterMk cId="968394455" sldId="2147483648"/>
              <pc:sldLayoutMk cId="4120372891" sldId="2147483649"/>
              <ac:spMk id="2" creationId="{D95A02AE-68BC-4F8B-9E9D-0AF8AF46DE43}"/>
            </ac:spMkLst>
          </pc:spChg>
          <pc:spChg chg="mod">
            <ac:chgData name="Finn Martin" userId="a636d416-188a-4ab1-b84b-fbb027a88d45" providerId="ADAL" clId="{0990C6CC-5F8B-413F-91BB-326F9E842A86}" dt="2026-10-06T10:16:56.814" v="6" actId="207"/>
            <ac:spMkLst>
              <pc:docMk/>
              <pc:sldMasterMk cId="968394455" sldId="2147483648"/>
              <pc:sldLayoutMk cId="4120372891" sldId="2147483649"/>
              <ac:spMk id="3" creationId="{19E83BC5-5DC4-4FD1-AC57-4272A6267B7A}"/>
            </ac:spMkLst>
          </pc:spChg>
        </pc:sldLayoutChg>
        <pc:sldLayoutChg chg="modSp setBg">
          <pc:chgData name="Finn Martin" userId="a636d416-188a-4ab1-b84b-fbb027a88d45" providerId="ADAL" clId="{0990C6CC-5F8B-413F-91BB-326F9E842A86}" dt="2026-10-06T10:17:03.912" v="8" actId="207"/>
          <pc:sldLayoutMkLst>
            <pc:docMk/>
            <pc:sldMasterMk cId="968394455" sldId="2147483648"/>
            <pc:sldLayoutMk cId="1788105038" sldId="2147483650"/>
          </pc:sldLayoutMkLst>
          <pc:spChg chg="mod">
            <ac:chgData name="Finn Martin" userId="a636d416-188a-4ab1-b84b-fbb027a88d45" providerId="ADAL" clId="{0990C6CC-5F8B-413F-91BB-326F9E842A86}" dt="2026-10-06T10:17:01.549" v="7" actId="207"/>
            <ac:spMkLst>
              <pc:docMk/>
              <pc:sldMasterMk cId="968394455" sldId="2147483648"/>
              <pc:sldLayoutMk cId="1788105038" sldId="2147483650"/>
              <ac:spMk id="2" creationId="{C81BE491-B42D-46B7-A9DA-A8D7D0113092}"/>
            </ac:spMkLst>
          </pc:spChg>
          <pc:spChg chg="mod">
            <ac:chgData name="Finn Martin" userId="a636d416-188a-4ab1-b84b-fbb027a88d45" providerId="ADAL" clId="{0990C6CC-5F8B-413F-91BB-326F9E842A86}" dt="2026-10-06T10:17:03.912" v="8" actId="207"/>
            <ac:spMkLst>
              <pc:docMk/>
              <pc:sldMasterMk cId="968394455" sldId="2147483648"/>
              <pc:sldLayoutMk cId="1788105038" sldId="2147483650"/>
              <ac:spMk id="3" creationId="{2B3CE4D6-FC89-4B05-8DC0-3E7CCE6B9304}"/>
            </ac:spMkLst>
          </pc:spChg>
        </pc:sldLayoutChg>
        <pc:sldLayoutChg chg="modSp setBg">
          <pc:chgData name="Finn Martin" userId="a636d416-188a-4ab1-b84b-fbb027a88d45" providerId="ADAL" clId="{0990C6CC-5F8B-413F-91BB-326F9E842A86}" dt="2026-10-06T10:17:14.445" v="10" actId="207"/>
          <pc:sldLayoutMkLst>
            <pc:docMk/>
            <pc:sldMasterMk cId="968394455" sldId="2147483648"/>
            <pc:sldLayoutMk cId="2380191658" sldId="2147483651"/>
          </pc:sldLayoutMkLst>
          <pc:spChg chg="mod">
            <ac:chgData name="Finn Martin" userId="a636d416-188a-4ab1-b84b-fbb027a88d45" providerId="ADAL" clId="{0990C6CC-5F8B-413F-91BB-326F9E842A86}" dt="2026-10-06T10:17:09.086" v="9" actId="207"/>
            <ac:spMkLst>
              <pc:docMk/>
              <pc:sldMasterMk cId="968394455" sldId="2147483648"/>
              <pc:sldLayoutMk cId="2380191658" sldId="2147483651"/>
              <ac:spMk id="2" creationId="{49E9002F-D121-4658-909E-E22B684B97E5}"/>
            </ac:spMkLst>
          </pc:spChg>
          <pc:spChg chg="mod">
            <ac:chgData name="Finn Martin" userId="a636d416-188a-4ab1-b84b-fbb027a88d45" providerId="ADAL" clId="{0990C6CC-5F8B-413F-91BB-326F9E842A86}" dt="2026-10-06T10:17:14.445" v="10" actId="207"/>
            <ac:spMkLst>
              <pc:docMk/>
              <pc:sldMasterMk cId="968394455" sldId="2147483648"/>
              <pc:sldLayoutMk cId="2380191658" sldId="2147483651"/>
              <ac:spMk id="3" creationId="{31ACC953-626C-40BA-AEEE-EE96EBF766C1}"/>
            </ac:spMkLst>
          </pc:spChg>
        </pc:sldLayoutChg>
        <pc:sldLayoutChg chg="modSp setBg">
          <pc:chgData name="Finn Martin" userId="a636d416-188a-4ab1-b84b-fbb027a88d45" providerId="ADAL" clId="{0990C6CC-5F8B-413F-91BB-326F9E842A86}" dt="2026-10-06T10:17:21.952" v="13" actId="207"/>
          <pc:sldLayoutMkLst>
            <pc:docMk/>
            <pc:sldMasterMk cId="968394455" sldId="2147483648"/>
            <pc:sldLayoutMk cId="95410066" sldId="2147483652"/>
          </pc:sldLayoutMkLst>
          <pc:spChg chg="mod">
            <ac:chgData name="Finn Martin" userId="a636d416-188a-4ab1-b84b-fbb027a88d45" providerId="ADAL" clId="{0990C6CC-5F8B-413F-91BB-326F9E842A86}" dt="2026-10-06T10:17:17.126" v="11" actId="207"/>
            <ac:spMkLst>
              <pc:docMk/>
              <pc:sldMasterMk cId="968394455" sldId="2147483648"/>
              <pc:sldLayoutMk cId="95410066" sldId="2147483652"/>
              <ac:spMk id="2" creationId="{F31D1F97-9FD0-4974-8345-43B9CE16F11A}"/>
            </ac:spMkLst>
          </pc:spChg>
          <pc:spChg chg="mod">
            <ac:chgData name="Finn Martin" userId="a636d416-188a-4ab1-b84b-fbb027a88d45" providerId="ADAL" clId="{0990C6CC-5F8B-413F-91BB-326F9E842A86}" dt="2026-10-06T10:17:19.688" v="12" actId="207"/>
            <ac:spMkLst>
              <pc:docMk/>
              <pc:sldMasterMk cId="968394455" sldId="2147483648"/>
              <pc:sldLayoutMk cId="95410066" sldId="2147483652"/>
              <ac:spMk id="3" creationId="{A6205FAA-FA03-4C37-A353-8794C7C5588A}"/>
            </ac:spMkLst>
          </pc:spChg>
          <pc:spChg chg="mod">
            <ac:chgData name="Finn Martin" userId="a636d416-188a-4ab1-b84b-fbb027a88d45" providerId="ADAL" clId="{0990C6CC-5F8B-413F-91BB-326F9E842A86}" dt="2026-10-06T10:17:21.952" v="13" actId="207"/>
            <ac:spMkLst>
              <pc:docMk/>
              <pc:sldMasterMk cId="968394455" sldId="2147483648"/>
              <pc:sldLayoutMk cId="95410066" sldId="2147483652"/>
              <ac:spMk id="4" creationId="{59315160-4B16-4EB5-98F6-E7861C2A433B}"/>
            </ac:spMkLst>
          </pc:spChg>
        </pc:sldLayoutChg>
        <pc:sldLayoutChg chg="setBg">
          <pc:chgData name="Finn Martin" userId="a636d416-188a-4ab1-b84b-fbb027a88d45" providerId="ADAL" clId="{0990C6CC-5F8B-413F-91BB-326F9E842A86}" dt="2026-10-06T10:15:22.533" v="4"/>
          <pc:sldLayoutMkLst>
            <pc:docMk/>
            <pc:sldMasterMk cId="968394455" sldId="2147483648"/>
            <pc:sldLayoutMk cId="625226976" sldId="2147483653"/>
          </pc:sldLayoutMkLst>
        </pc:sldLayoutChg>
        <pc:sldLayoutChg chg="setBg">
          <pc:chgData name="Finn Martin" userId="a636d416-188a-4ab1-b84b-fbb027a88d45" providerId="ADAL" clId="{0990C6CC-5F8B-413F-91BB-326F9E842A86}" dt="2026-10-06T10:15:22.533" v="4"/>
          <pc:sldLayoutMkLst>
            <pc:docMk/>
            <pc:sldMasterMk cId="968394455" sldId="2147483648"/>
            <pc:sldLayoutMk cId="995072493" sldId="2147483654"/>
          </pc:sldLayoutMkLst>
        </pc:sldLayoutChg>
        <pc:sldLayoutChg chg="setBg">
          <pc:chgData name="Finn Martin" userId="a636d416-188a-4ab1-b84b-fbb027a88d45" providerId="ADAL" clId="{0990C6CC-5F8B-413F-91BB-326F9E842A86}" dt="2026-10-06T10:15:22.533" v="4"/>
          <pc:sldLayoutMkLst>
            <pc:docMk/>
            <pc:sldMasterMk cId="968394455" sldId="2147483648"/>
            <pc:sldLayoutMk cId="777532410" sldId="2147483655"/>
          </pc:sldLayoutMkLst>
        </pc:sldLayoutChg>
        <pc:sldLayoutChg chg="setBg">
          <pc:chgData name="Finn Martin" userId="a636d416-188a-4ab1-b84b-fbb027a88d45" providerId="ADAL" clId="{0990C6CC-5F8B-413F-91BB-326F9E842A86}" dt="2026-10-06T10:15:22.533" v="4"/>
          <pc:sldLayoutMkLst>
            <pc:docMk/>
            <pc:sldMasterMk cId="968394455" sldId="2147483648"/>
            <pc:sldLayoutMk cId="3523444497" sldId="2147483656"/>
          </pc:sldLayoutMkLst>
        </pc:sldLayoutChg>
        <pc:sldLayoutChg chg="setBg">
          <pc:chgData name="Finn Martin" userId="a636d416-188a-4ab1-b84b-fbb027a88d45" providerId="ADAL" clId="{0990C6CC-5F8B-413F-91BB-326F9E842A86}" dt="2026-10-06T10:15:22.533" v="4"/>
          <pc:sldLayoutMkLst>
            <pc:docMk/>
            <pc:sldMasterMk cId="968394455" sldId="2147483648"/>
            <pc:sldLayoutMk cId="3317627502" sldId="2147483657"/>
          </pc:sldLayoutMkLst>
        </pc:sldLayoutChg>
        <pc:sldLayoutChg chg="setBg">
          <pc:chgData name="Finn Martin" userId="a636d416-188a-4ab1-b84b-fbb027a88d45" providerId="ADAL" clId="{0990C6CC-5F8B-413F-91BB-326F9E842A86}" dt="2026-10-06T10:15:22.533" v="4"/>
          <pc:sldLayoutMkLst>
            <pc:docMk/>
            <pc:sldMasterMk cId="968394455" sldId="2147483648"/>
            <pc:sldLayoutMk cId="3218605716" sldId="2147483658"/>
          </pc:sldLayoutMkLst>
        </pc:sldLayoutChg>
        <pc:sldLayoutChg chg="setBg">
          <pc:chgData name="Finn Martin" userId="a636d416-188a-4ab1-b84b-fbb027a88d45" providerId="ADAL" clId="{0990C6CC-5F8B-413F-91BB-326F9E842A86}" dt="2026-10-06T10:15:22.533" v="4"/>
          <pc:sldLayoutMkLst>
            <pc:docMk/>
            <pc:sldMasterMk cId="968394455" sldId="2147483648"/>
            <pc:sldLayoutMk cId="2931679915" sldId="2147483659"/>
          </pc:sldLayoutMkLst>
        </pc:sldLayoutChg>
      </pc:sldMaster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F20A95-3421-491E-8A17-6E5A29EE269B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3A690E-9A0B-40DC-A38E-8F0186BF5292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2838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b="1" lang="de-DE" sz="1100"/>
              <a:t>LEITFRAGE</a:t>
            </a:r>
            <a:endParaRPr lang="de-DE" dirty="0"/>
          </a:p>
          <a:p>
            <a:pPr marL="171450" indent="-171450">
              <a:buFont typeface="Arial"/>
              <a:buChar char="•"/>
            </a:pPr>
            <a:r>
              <a:rPr lang="de-DE"/>
              <a:t>Was macht diese Malware-Art?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1. Selbstständige Verbreitung:</a:t>
            </a:r>
            <a:r>
              <a:rPr lang="de-DE"/>
              <a:t> über Netzwerke (Internet, lokales Netz) von Rechner zu Rechner – </a:t>
            </a:r>
            <a:r>
              <a:rPr b="1" lang="de-DE"/>
              <a:t>ohne Zutun des Nutzers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2. Systemressourcen überlasten:</a:t>
            </a:r>
            <a:r>
              <a:rPr lang="de-DE"/>
              <a:t> massenhafte Vervielfältigung frisst </a:t>
            </a:r>
            <a:r>
              <a:rPr b="1" lang="de-DE"/>
              <a:t>Speicher &amp; Bandbreite</a:t>
            </a:r>
            <a:r>
              <a:rPr lang="de-DE"/>
              <a:t> → Systeme werden langsam oder fallen aus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3. Schadfunktionen (Payload):</a:t>
            </a:r>
            <a:r>
              <a:rPr lang="de-DE"/>
              <a:t> öffnet </a:t>
            </a:r>
            <a:r>
              <a:rPr b="1" lang="de-DE"/>
              <a:t>Backdoors</a:t>
            </a:r>
            <a:r>
              <a:rPr lang="de-DE"/>
              <a:t> für Hacker, löscht Dateien, installiert weitere Schadsoftware</a:t>
            </a:r>
          </a:p>
          <a:p>
            <a:pPr>
              <a:spcBef>
                <a:spcPts val="800"/>
              </a:spcBef>
            </a:pPr>
            <a:r>
              <a:rPr b="1" lang="de-DE" sz="1100"/>
              <a:t>ZUSATZINFO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Verbreitung ist </a:t>
            </a:r>
            <a:r>
              <a:rPr b="1" lang="de-DE"/>
              <a:t>exponentiell:</a:t>
            </a:r>
            <a:r>
              <a:rPr lang="de-DE"/>
              <a:t> </a:t>
            </a:r>
            <a:r>
              <a:rPr b="1" lang="de-DE"/>
              <a:t>SQL Slammer (2003)</a:t>
            </a:r>
            <a:r>
              <a:rPr lang="de-DE"/>
              <a:t> erreichte binnen ca. </a:t>
            </a:r>
            <a:r>
              <a:rPr b="1" lang="de-DE"/>
              <a:t>10 Minuten</a:t>
            </a:r>
            <a:r>
              <a:rPr lang="de-DE"/>
              <a:t> den Großteil verwundbarer Server weltweit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Befallene PCs werden oft Teil eines </a:t>
            </a:r>
            <a:r>
              <a:rPr b="1" lang="de-DE"/>
              <a:t>Botnetzes</a:t>
            </a:r>
            <a:r>
              <a:rPr lang="de-DE"/>
              <a:t> („Zombie-Rechner“) – z. B. für </a:t>
            </a:r>
            <a:r>
              <a:rPr b="1" lang="de-DE"/>
              <a:t>DDoS</a:t>
            </a:r>
            <a:r>
              <a:rPr lang="de-DE"/>
              <a:t> oder Spam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Wurm = </a:t>
            </a:r>
            <a:r>
              <a:rPr b="1" lang="de-DE"/>
              <a:t>Verbreitungsmechanismus + Payload</a:t>
            </a:r>
            <a:r>
              <a:rPr lang="de-DE"/>
              <a:t> – die Payload kann alles sein (z. B. </a:t>
            </a:r>
            <a:r>
              <a:rPr b="1" lang="de-DE"/>
              <a:t>Ransomware</a:t>
            </a:r>
            <a:r>
              <a:rPr lang="de-DE"/>
              <a:t> bei WannaCry)</a:t>
            </a: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3A690E-9A0B-40DC-A38E-8F0186BF5292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570914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lang="de-DE" sz="1100"/>
              <a:t>KERNAUSSAGE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Computerwürmer sind Schadsoftware, die sich </a:t>
            </a:r>
            <a:r>
              <a:rPr b="1" lang="de-DE"/>
              <a:t>von allein verbreitet</a:t>
            </a:r>
            <a:r>
              <a:rPr lang="de-DE"/>
              <a:t> – darum geht es heute.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Begrüßung &amp; Thema: </a:t>
            </a:r>
            <a:r>
              <a:rPr b="1" lang="de-DE"/>
              <a:t>„Wenn sich Malware selbst verbreitet“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Ablauf: </a:t>
            </a:r>
            <a:r>
              <a:rPr b="1" lang="de-DE"/>
              <a:t>Definition → Funktionsweise → Infektionswege → Schutz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Einstiegsfrage ans Publikum: „Wer hat schon mal eine seltsame Mail von einem Bekannten bekommen?“</a:t>
            </a:r>
          </a:p>
          <a:p>
            <a:pPr>
              <a:spcBef>
                <a:spcPts val="800"/>
              </a:spcBef>
            </a:pPr>
            <a:r>
              <a:rPr b="1" lang="de-DE" sz="1100"/>
              <a:t>ZUSATZINFO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Der Begriff „Wurm“ stammt aus dem Sci-Fi-Roman </a:t>
            </a:r>
            <a:r>
              <a:rPr b="1" lang="de-DE"/>
              <a:t>„The Shockwave Rider“ (1975)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Erster großer Fall: </a:t>
            </a:r>
            <a:r>
              <a:rPr b="1" lang="de-DE"/>
              <a:t>Morris-Wurm (1988)</a:t>
            </a:r>
            <a:r>
              <a:rPr lang="de-DE"/>
              <a:t> – legte rund </a:t>
            </a:r>
            <a:r>
              <a:rPr b="1" lang="de-DE"/>
              <a:t>6.000 Rechner</a:t>
            </a:r>
            <a:r>
              <a:rPr lang="de-DE"/>
              <a:t> im damaligen Internet lahm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lang="de-DE" sz="1100"/>
              <a:t>KERNAUSSAGE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Wurm = </a:t>
            </a:r>
            <a:r>
              <a:rPr b="1" lang="de-DE"/>
              <a:t>eigenständiges Programm</a:t>
            </a:r>
            <a:r>
              <a:rPr lang="de-DE"/>
              <a:t>, das sich </a:t>
            </a:r>
            <a:r>
              <a:rPr b="1" lang="de-DE"/>
              <a:t>selbst über Netzwerke</a:t>
            </a:r>
            <a:r>
              <a:rPr lang="de-DE"/>
              <a:t> kopiert.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Gehört zur Familie der </a:t>
            </a:r>
            <a:r>
              <a:rPr b="1" lang="de-DE"/>
              <a:t>Malware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Unterschied zum Virus:</a:t>
            </a:r>
            <a:r>
              <a:rPr lang="de-DE"/>
              <a:t> Virus braucht eine </a:t>
            </a:r>
            <a:r>
              <a:rPr b="1" lang="de-DE"/>
              <a:t>Wirtsdatei</a:t>
            </a:r>
            <a:r>
              <a:rPr lang="de-DE"/>
              <a:t>, der Wurm läuft </a:t>
            </a:r>
            <a:r>
              <a:rPr b="1" lang="de-DE"/>
              <a:t>allein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Nutzt </a:t>
            </a:r>
            <a:r>
              <a:rPr b="1" lang="de-DE"/>
              <a:t>Sicherheitslücken</a:t>
            </a:r>
            <a:r>
              <a:rPr lang="de-DE"/>
              <a:t> in Software &amp; Betriebssystemen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Beispiel </a:t>
            </a:r>
            <a:r>
              <a:rPr b="1" lang="de-DE"/>
              <a:t>ILOVEYOU (2000):</a:t>
            </a:r>
            <a:r>
              <a:rPr lang="de-DE"/>
              <a:t> Mail mit Anhang, verschickte sich an alle Kontakte im </a:t>
            </a:r>
            <a:r>
              <a:rPr b="1" lang="de-DE"/>
              <a:t>Outlook-Adressbuch</a:t>
            </a:r>
          </a:p>
          <a:p>
            <a:pPr>
              <a:spcBef>
                <a:spcPts val="800"/>
              </a:spcBef>
            </a:pPr>
            <a:r>
              <a:rPr b="1" lang="de-DE" sz="1100"/>
              <a:t>ZUSATZINFO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ILOVEYOU tarnte sich als Textdatei (Doppelendung </a:t>
            </a:r>
            <a:r>
              <a:rPr b="1" lang="de-DE"/>
              <a:t>.txt.vbs</a:t>
            </a:r>
            <a:r>
              <a:rPr lang="de-DE"/>
              <a:t>) – Schaden laut Schätzungen </a:t>
            </a:r>
            <a:r>
              <a:rPr b="1" lang="de-DE"/>
              <a:t>mehrere Mrd. US-Dollar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Abgrenzung </a:t>
            </a:r>
            <a:r>
              <a:rPr b="1" lang="de-DE"/>
              <a:t>Trojaner:</a:t>
            </a:r>
            <a:r>
              <a:rPr lang="de-DE"/>
              <a:t> täuscht den Nutzer, vermehrt sich aber </a:t>
            </a:r>
            <a:r>
              <a:rPr b="1" lang="de-DE"/>
              <a:t>nicht selbst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Merksatz: </a:t>
            </a:r>
            <a:r>
              <a:rPr b="1" lang="de-DE"/>
              <a:t>Virus</a:t>
            </a:r>
            <a:r>
              <a:rPr lang="de-DE"/>
              <a:t> = braucht Wirt · </a:t>
            </a:r>
            <a:r>
              <a:rPr b="1" lang="de-DE"/>
              <a:t>Wurm</a:t>
            </a:r>
            <a:r>
              <a:rPr lang="de-DE"/>
              <a:t> = verbreitet sich selbst · </a:t>
            </a:r>
            <a:r>
              <a:rPr b="1" lang="de-DE"/>
              <a:t>Trojaner</a:t>
            </a:r>
            <a:r>
              <a:rPr lang="de-DE"/>
              <a:t> = getarnt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lang="de-DE" sz="1100"/>
              <a:t>KERNAUSSAGE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Häufigster Weg: </a:t>
            </a:r>
            <a:r>
              <a:rPr b="1" lang="de-DE"/>
              <a:t>Sicherheitslücken</a:t>
            </a:r>
            <a:r>
              <a:rPr lang="de-DE"/>
              <a:t> – oft </a:t>
            </a:r>
            <a:r>
              <a:rPr b="1" lang="de-DE"/>
              <a:t>ohne einen einzigen Klick</a:t>
            </a:r>
            <a:r>
              <a:rPr lang="de-DE"/>
              <a:t>.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Wurm </a:t>
            </a:r>
            <a:r>
              <a:rPr b="1" lang="de-DE"/>
              <a:t>scannt Netzwerke</a:t>
            </a:r>
            <a:r>
              <a:rPr lang="de-DE"/>
              <a:t> nach Geräten mit ungepatchter Lücke (</a:t>
            </a:r>
            <a:r>
              <a:rPr b="1" lang="de-DE"/>
              <a:t>Exploit</a:t>
            </a:r>
            <a:r>
              <a:rPr lang="de-DE"/>
              <a:t>)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Einmal drin: </a:t>
            </a:r>
            <a:r>
              <a:rPr b="1" lang="de-DE"/>
              <a:t>kopiert sich</a:t>
            </a:r>
            <a:r>
              <a:rPr lang="de-DE"/>
              <a:t> und sucht von dort weiter → </a:t>
            </a:r>
            <a:r>
              <a:rPr b="1" lang="de-DE"/>
              <a:t>Kettenreaktion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Phishing-Mails:</a:t>
            </a:r>
            <a:r>
              <a:rPr lang="de-DE"/>
              <a:t> Wurm liest das </a:t>
            </a:r>
            <a:r>
              <a:rPr b="1" lang="de-DE"/>
              <a:t>Adressbuch</a:t>
            </a:r>
            <a:r>
              <a:rPr lang="de-DE"/>
              <a:t> aus und schickt sich an alle Kontakte – Absender ist bekannt, daher wirkt es </a:t>
            </a:r>
            <a:r>
              <a:rPr b="1" lang="de-DE"/>
              <a:t>vertrauenswürdig</a:t>
            </a:r>
          </a:p>
          <a:p>
            <a:pPr>
              <a:spcBef>
                <a:spcPts val="800"/>
              </a:spcBef>
            </a:pPr>
            <a:r>
              <a:rPr b="1" lang="de-DE" sz="1100"/>
              <a:t>ZUSATZINFO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WannaCry (2017):</a:t>
            </a:r>
            <a:r>
              <a:rPr lang="de-DE"/>
              <a:t> Windows-Lücke (</a:t>
            </a:r>
            <a:r>
              <a:rPr b="1" lang="de-DE"/>
              <a:t>EternalBlue / SMB</a:t>
            </a:r>
            <a:r>
              <a:rPr lang="de-DE"/>
              <a:t>), ca. </a:t>
            </a:r>
            <a:r>
              <a:rPr b="1" lang="de-DE"/>
              <a:t>200.000 Rechner in 150 Ländern</a:t>
            </a:r>
            <a:r>
              <a:rPr lang="de-DE"/>
              <a:t>, u. a. britische Krankenhäuser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Zero-Day:</a:t>
            </a:r>
            <a:r>
              <a:rPr lang="de-DE"/>
              <a:t> Lücke, für die es </a:t>
            </a:r>
            <a:r>
              <a:rPr b="1" lang="de-DE"/>
              <a:t>noch keinen Patch</a:t>
            </a:r>
            <a:r>
              <a:rPr lang="de-DE"/>
              <a:t> gibt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Weiteres Mail-Wurm-Beispiel: </a:t>
            </a:r>
            <a:r>
              <a:rPr b="1" lang="de-DE"/>
              <a:t>Mydoom (2004)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lang="de-DE" sz="1100"/>
              <a:t>KERNAUSSAGE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Würmer nutzen </a:t>
            </a:r>
            <a:r>
              <a:rPr b="1" lang="de-DE"/>
              <a:t>jeden Kanal</a:t>
            </a:r>
            <a:r>
              <a:rPr lang="de-DE"/>
              <a:t>, über den Daten fließen – auch das </a:t>
            </a:r>
            <a:r>
              <a:rPr b="1" lang="de-DE"/>
              <a:t>Vertrauen</a:t>
            </a:r>
            <a:r>
              <a:rPr lang="de-DE"/>
              <a:t> zwischen Menschen.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Messenger &amp; Soziale Netzwerke:</a:t>
            </a:r>
            <a:r>
              <a:rPr lang="de-DE"/>
              <a:t> bösartige </a:t>
            </a:r>
            <a:r>
              <a:rPr b="1" lang="de-DE"/>
              <a:t>Links</a:t>
            </a:r>
            <a:r>
              <a:rPr lang="de-DE"/>
              <a:t> von Freunden → hohe Klickrate, weil „von Bekannten“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USB-Sticks &amp; Wechseldatenträger:</a:t>
            </a:r>
            <a:r>
              <a:rPr lang="de-DE"/>
              <a:t> Wurm kopiert sich auf den Stick und startet beim Anstecken (früher oft per </a:t>
            </a:r>
            <a:r>
              <a:rPr b="1" lang="de-DE"/>
              <a:t>Autorun</a:t>
            </a:r>
            <a:r>
              <a:rPr lang="de-DE"/>
              <a:t>)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Mobilgeräte:</a:t>
            </a:r>
            <a:r>
              <a:rPr lang="de-DE"/>
              <a:t> Handywürmer über </a:t>
            </a:r>
            <a:r>
              <a:rPr b="1" lang="de-DE"/>
              <a:t>Mobilfunk</a:t>
            </a:r>
            <a:r>
              <a:rPr lang="de-DE"/>
              <a:t> oder </a:t>
            </a:r>
            <a:r>
              <a:rPr b="1" lang="de-DE"/>
              <a:t>Bluetooth</a:t>
            </a:r>
          </a:p>
          <a:p>
            <a:pPr>
              <a:spcBef>
                <a:spcPts val="800"/>
              </a:spcBef>
            </a:pPr>
            <a:r>
              <a:rPr b="1" lang="de-DE" sz="1100"/>
              <a:t>ZUSATZINFO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Koobface (2008):</a:t>
            </a:r>
            <a:r>
              <a:rPr lang="de-DE"/>
              <a:t> Wurm für Facebook &amp; Co.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Stuxnet (2010):</a:t>
            </a:r>
            <a:r>
              <a:rPr lang="de-DE"/>
              <a:t> gelangte vermutlich per </a:t>
            </a:r>
            <a:r>
              <a:rPr b="1" lang="de-DE"/>
              <a:t>USB</a:t>
            </a:r>
            <a:r>
              <a:rPr lang="de-DE"/>
              <a:t> in Anlagen </a:t>
            </a:r>
            <a:r>
              <a:rPr b="1" lang="de-DE"/>
              <a:t>ohne Internetanbindung</a:t>
            </a:r>
            <a:r>
              <a:rPr lang="de-DE"/>
              <a:t> („Air Gap“)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Cabir (2004):</a:t>
            </a:r>
            <a:r>
              <a:rPr lang="de-DE"/>
              <a:t> erster bekannter </a:t>
            </a:r>
            <a:r>
              <a:rPr b="1" lang="de-DE"/>
              <a:t>Handywurm</a:t>
            </a:r>
            <a:r>
              <a:rPr lang="de-DE"/>
              <a:t> (Bluetooth)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Tipp fürs Publikum: Unbekannte USB-Sticks </a:t>
            </a:r>
            <a:r>
              <a:rPr b="1" lang="de-DE"/>
              <a:t>nie</a:t>
            </a:r>
            <a:r>
              <a:rPr lang="de-DE"/>
              <a:t> einstecken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lang="de-DE" sz="1100"/>
              <a:t>KERNAUSSAGE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Zwei Säulen: </a:t>
            </a:r>
            <a:r>
              <a:rPr b="1" lang="de-DE"/>
              <a:t>aufmerksames Verhalten</a:t>
            </a:r>
            <a:r>
              <a:rPr lang="de-DE"/>
              <a:t> und </a:t>
            </a:r>
            <a:r>
              <a:rPr b="1" lang="de-DE"/>
              <a:t>aktuelle Software</a:t>
            </a:r>
            <a:r>
              <a:rPr lang="de-DE"/>
              <a:t>.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E-Mail:</a:t>
            </a:r>
            <a:r>
              <a:rPr lang="de-DE"/>
              <a:t> </a:t>
            </a:r>
            <a:r>
              <a:rPr b="1" lang="de-DE"/>
              <a:t>Spamfilter</a:t>
            </a:r>
            <a:r>
              <a:rPr lang="de-DE"/>
              <a:t> nutzen, Anhänge &amp; Links nur aus </a:t>
            </a:r>
            <a:r>
              <a:rPr b="1" lang="de-DE"/>
              <a:t>vertrauenswürdigen Quellen</a:t>
            </a:r>
            <a:r>
              <a:rPr lang="de-DE"/>
              <a:t> öffnen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Awareness-Schulungen:</a:t>
            </a:r>
            <a:r>
              <a:rPr lang="de-DE"/>
              <a:t> der Mensch ist die größte </a:t>
            </a:r>
            <a:r>
              <a:rPr b="1" lang="de-DE"/>
              <a:t>Schwachstelle</a:t>
            </a:r>
            <a:r>
              <a:rPr lang="de-DE"/>
              <a:t> – aber auch die wichtigste </a:t>
            </a:r>
            <a:r>
              <a:rPr b="1" lang="de-DE"/>
              <a:t>Verteidigung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Updates:</a:t>
            </a:r>
            <a:r>
              <a:rPr lang="de-DE"/>
              <a:t> </a:t>
            </a:r>
            <a:r>
              <a:rPr b="1" lang="de-DE"/>
              <a:t>Sicherheits-Patches schließen Lücken</a:t>
            </a:r>
            <a:r>
              <a:rPr lang="de-DE"/>
              <a:t> und nehmen dem Wurm die Angriffsfläche</a:t>
            </a:r>
          </a:p>
          <a:p>
            <a:pPr>
              <a:spcBef>
                <a:spcPts val="800"/>
              </a:spcBef>
            </a:pPr>
            <a:r>
              <a:rPr b="1" lang="de-DE" sz="1100"/>
              <a:t>ZUSATZINFO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WannaCry:</a:t>
            </a:r>
            <a:r>
              <a:rPr lang="de-DE"/>
              <a:t> Der Patch war </a:t>
            </a:r>
            <a:r>
              <a:rPr b="1" lang="de-DE"/>
              <a:t>ca. 2 Monate vorher</a:t>
            </a:r>
            <a:r>
              <a:rPr lang="de-DE"/>
              <a:t> verfügbar (März 2017) – wer aktualisiert hatte, war geschützt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Automatische Updates</a:t>
            </a:r>
            <a:r>
              <a:rPr lang="de-DE"/>
              <a:t> aktivieren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Warnsignale: </a:t>
            </a:r>
            <a:r>
              <a:rPr b="1" lang="de-DE"/>
              <a:t>Doppelendungen</a:t>
            </a:r>
            <a:r>
              <a:rPr lang="de-DE"/>
              <a:t> (.pdf.exe), unerwartete Anhänge, Zeitdruck, Aufforderung zu </a:t>
            </a:r>
            <a:r>
              <a:rPr b="1" lang="de-DE"/>
              <a:t>Makros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lang="de-DE" sz="1100"/>
              <a:t>KERNAUSSAGE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Antivirus + Firewall</a:t>
            </a:r>
            <a:r>
              <a:rPr lang="de-DE"/>
              <a:t> = technische Schutzschicht – ersetzt aber weder </a:t>
            </a:r>
            <a:r>
              <a:rPr b="1" lang="de-DE"/>
              <a:t>Updates</a:t>
            </a:r>
            <a:r>
              <a:rPr lang="de-DE"/>
              <a:t> noch </a:t>
            </a:r>
            <a:r>
              <a:rPr b="1" lang="de-DE"/>
              <a:t>Mitdenken</a:t>
            </a:r>
            <a:r>
              <a:rPr lang="de-DE"/>
              <a:t>.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Antiviren-Software:</a:t>
            </a:r>
            <a:r>
              <a:rPr lang="de-DE"/>
              <a:t> scannt </a:t>
            </a:r>
            <a:r>
              <a:rPr b="1" lang="de-DE"/>
              <a:t>Dateien &amp; Downloads</a:t>
            </a:r>
            <a:r>
              <a:rPr lang="de-DE"/>
              <a:t>, kann Würmer </a:t>
            </a:r>
            <a:r>
              <a:rPr b="1" lang="de-DE"/>
              <a:t>entfernen</a:t>
            </a:r>
            <a:r>
              <a:rPr lang="de-DE"/>
              <a:t> (Quarantäne)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Firewall:</a:t>
            </a:r>
            <a:r>
              <a:rPr lang="de-DE"/>
              <a:t> </a:t>
            </a:r>
            <a:r>
              <a:rPr b="1" lang="de-DE"/>
              <a:t>Schutzbarriere</a:t>
            </a:r>
            <a:r>
              <a:rPr lang="de-DE"/>
              <a:t> zwischen internem und externem Netzwerk – blockiert unerwünschte Verbindungen und </a:t>
            </a:r>
            <a:r>
              <a:rPr b="1" lang="de-DE"/>
              <a:t>erschwert das Eindringen</a:t>
            </a:r>
          </a:p>
          <a:p>
            <a:pPr>
              <a:spcBef>
                <a:spcPts val="800"/>
              </a:spcBef>
            </a:pPr>
            <a:r>
              <a:rPr b="1" lang="de-DE" sz="1100"/>
              <a:t>ZUSATZINFO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Antivirus erkennt per </a:t>
            </a:r>
            <a:r>
              <a:rPr b="1" lang="de-DE"/>
              <a:t>Signaturen</a:t>
            </a:r>
            <a:r>
              <a:rPr lang="de-DE"/>
              <a:t> (bekannte Würmer) und </a:t>
            </a:r>
            <a:r>
              <a:rPr b="1" lang="de-DE"/>
              <a:t>Verhaltensanalyse</a:t>
            </a:r>
            <a:r>
              <a:rPr lang="de-DE"/>
              <a:t> (Heuristik)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Grenzen:</a:t>
            </a:r>
            <a:r>
              <a:rPr lang="de-DE"/>
              <a:t> Neue Würmer (</a:t>
            </a:r>
            <a:r>
              <a:rPr b="1" lang="de-DE"/>
              <a:t>Zero-Day</a:t>
            </a:r>
            <a:r>
              <a:rPr lang="de-DE"/>
              <a:t>) werden evtl. nicht erkannt; Firewall hilft kaum, wenn der Wurm per </a:t>
            </a:r>
            <a:r>
              <a:rPr b="1" lang="de-DE"/>
              <a:t>Mail oder USB</a:t>
            </a:r>
            <a:r>
              <a:rPr lang="de-DE"/>
              <a:t> kommt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Deshalb </a:t>
            </a:r>
            <a:r>
              <a:rPr b="1" lang="de-DE"/>
              <a:t>Defense in Depth:</a:t>
            </a:r>
            <a:r>
              <a:rPr lang="de-DE"/>
              <a:t> mehrere Schutzschichten kombinieren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Extra-Tipps: regelmäßige </a:t>
            </a:r>
            <a:r>
              <a:rPr b="1" lang="de-DE"/>
              <a:t>Backups (3-2-1-Regel)</a:t>
            </a:r>
            <a:r>
              <a:rPr lang="de-DE"/>
              <a:t>, </a:t>
            </a:r>
            <a:r>
              <a:rPr b="1" lang="de-DE"/>
              <a:t>Netzwerksegmentierung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b="1" lang="de-DE" sz="1100"/>
              <a:t>TAKE-AWAYS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Wurm = </a:t>
            </a:r>
            <a:r>
              <a:rPr b="1" lang="de-DE"/>
              <a:t>eigenständig</a:t>
            </a:r>
            <a:r>
              <a:rPr lang="de-DE"/>
              <a:t> + </a:t>
            </a:r>
            <a:r>
              <a:rPr b="1" lang="de-DE"/>
              <a:t>selbstverbreitend</a:t>
            </a:r>
            <a:r>
              <a:rPr lang="de-DE"/>
              <a:t>, ohne Wirtsdatei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Einfallstore: </a:t>
            </a:r>
            <a:r>
              <a:rPr b="1" lang="de-DE"/>
              <a:t>Sicherheitslücken, E-Mail, Messenger, USB, Mobilgeräte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Schutz: </a:t>
            </a:r>
            <a:r>
              <a:rPr b="1" lang="de-DE"/>
              <a:t>Updates, Vorsicht, Antivirus, Firewall</a:t>
            </a:r>
          </a:p>
          <a:p>
            <a:pPr>
              <a:spcBef>
                <a:spcPts val="800"/>
              </a:spcBef>
            </a:pPr>
            <a:r>
              <a:rPr b="1" lang="de-DE" sz="1100"/>
              <a:t>ERZÄHLEN</a:t>
            </a:r>
          </a:p>
          <a:p>
            <a:pPr marL="171450" indent="-171450">
              <a:buFont typeface="Arial"/>
              <a:buChar char="•"/>
            </a:pPr>
            <a:r>
              <a:rPr lang="de-DE"/>
              <a:t>Kurz zusammenfassen, </a:t>
            </a:r>
            <a:r>
              <a:rPr b="1" lang="de-DE"/>
              <a:t>Dank</a:t>
            </a:r>
            <a:r>
              <a:rPr lang="de-DE"/>
              <a:t> fürs Zuhören, </a:t>
            </a:r>
            <a:r>
              <a:rPr b="1" lang="de-DE"/>
              <a:t>Fragen</a:t>
            </a:r>
            <a:r>
              <a:rPr lang="de-DE"/>
              <a:t> einladen</a:t>
            </a:r>
          </a:p>
          <a:p>
            <a:pPr>
              <a:spcBef>
                <a:spcPts val="800"/>
              </a:spcBef>
            </a:pPr>
            <a:r>
              <a:rPr b="1" lang="de-DE" sz="1100"/>
              <a:t>MÖGLICHE FRAGEN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Virus vs. Wurm vs. Trojaner?</a:t>
            </a:r>
            <a:r>
              <a:rPr lang="de-DE"/>
              <a:t> → Wirt nötig / selbstverbreitend / getarnt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Woran erkenne ich einen Befall?</a:t>
            </a:r>
            <a:r>
              <a:rPr lang="de-DE"/>
              <a:t> → Rechner oder Netz </a:t>
            </a:r>
            <a:r>
              <a:rPr b="1" lang="de-DE"/>
              <a:t>ungewöhnlich langsam</a:t>
            </a:r>
            <a:r>
              <a:rPr lang="de-DE"/>
              <a:t>, unbekannte Prozesse, Nachrichten, die man </a:t>
            </a:r>
            <a:r>
              <a:rPr b="1" lang="de-DE"/>
              <a:t>nie verschickt</a:t>
            </a:r>
            <a:r>
              <a:rPr lang="de-DE"/>
              <a:t> hat</a:t>
            </a:r>
          </a:p>
          <a:p>
            <a:pPr marL="171450" indent="-171450">
              <a:buFont typeface="Arial"/>
              <a:buChar char="•"/>
            </a:pPr>
            <a:r>
              <a:rPr b="1" lang="de-DE"/>
              <a:t>Was tun bei Verdacht?</a:t>
            </a:r>
            <a:r>
              <a:rPr lang="de-DE"/>
              <a:t> → </a:t>
            </a:r>
            <a:r>
              <a:rPr b="1" lang="de-DE"/>
              <a:t>vom Netz trennen</a:t>
            </a:r>
            <a:r>
              <a:rPr lang="de-DE"/>
              <a:t>, Virenscan, Passwörter ändern, ggf. Backup einspielen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95A02AE-68BC-4F8B-9E9D-0AF8AF46DE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9E83BC5-5DC4-4FD1-AC57-4272A6267B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 dirty="0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DD1E946-22E8-4482-AE6C-CEDC257B0C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C0AA2C0-C8C3-40D4-99FC-C5A47E2160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A6AAC2-3AFF-4CF1-9AF0-1F3A73916F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03728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1BE491-B42D-46B7-A9DA-A8D7D01130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B3CE4D6-FC89-4B05-8DC0-3E7CCE6B93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26C1EB3-733E-4407-A473-3CD2A3741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D11EF1C-1B33-47E4-8900-278156C6E0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81FFE42-DB14-4F14-A284-CCAFA277C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8105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9E9002F-D121-4658-909E-E22B684B9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1ACC953-626C-40BA-AEEE-EE96EBF76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 dirty="0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251D43F-0F91-4E00-8045-F22A953EA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5AA34D-8CE6-44B3-BFD4-3ED7A47B6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EC7EC60-7807-4A91-8ECE-081FD893C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80191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1D1F97-9FD0-4974-8345-43B9CE16F1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6205FAA-FA03-4C37-A353-8794C7C558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9315160-4B16-4EB5-98F6-E7861C2A4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AB14CF0-CCE4-4F3E-A9AA-E71A7E7D6E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1EC99C7-98E0-4069-8C57-E8CAD90BF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296B2F5-DAE2-48F9-AEFA-D871637CA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5410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FACE014-A370-40B4-832F-14478CE54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C6E40C8-1052-4E01-AED7-067FCD789E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5EBB214D-4A8B-4E47-85D6-FD3CC82883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5501B0C1-2070-4755-867E-7F6C8F1A30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DE05043-C7CC-4C46-B9EF-740E30241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8E1BDA2-E1BB-4C80-907D-E4FCFF718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389164F-B18E-4673-B84A-497DCFCE3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A61991E4-988F-4BAE-9EEC-CEF4875893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2522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BC515A-7A77-46F7-A6AE-5D1DDDCE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54AC113D-2F01-4B24-925F-CC9F17BB49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DF172DA2-1F76-4BF5-AAF3-1E6BBD40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B65A0EC-2665-46EB-B154-677FE5C0C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950724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FC486027-7450-42AC-8DD8-5960550AB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D09D953D-1705-41EE-9A43-BE4E57A1E4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8944517-9669-4A73-A4A3-D748C0D2C6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77532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F6AA39-859E-4415-9DC1-3D0E982541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F052565-CD9B-4056-AD36-7F3DFA1C2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53D159D9-08EC-47B8-ABBF-257F8A8BB5D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7C17EEC-BCD4-40BB-AEA6-27ED42973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75A88F6-2BBD-4C3C-899A-F6FFAB0DAD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A39D241A-D08A-4F82-B67F-64F51EAE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34444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79BC87-EEF3-489D-9172-DB837CA09F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A7844F41-4C6C-4B37-8C33-DD610A254F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F3CCB95-70A9-43A3-AEAB-9321CBDD20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F318AEA9-A5F5-4902-9D78-F157C18E2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2AF5ED6-68EE-49B3-A828-0EC5A12B2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78FB314B-F274-4CE2-9F3D-CB0186E19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627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D07B1FC-54BE-4276-9750-3A13F7C43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6ACD96-F70D-490B-AE64-C82D5D05C5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EE7F3D-98BD-4343-B2D6-466040210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5C2026F-6534-4480-8803-DFB907305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B7DEE3C-5847-4A88-8E88-3D934AA5D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186057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5886090-F038-4D8D-B728-A06EC98BD3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E0192CC5-8D27-4AD9-A1AC-BE7BA9619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CD064FF-60B4-402A-BD10-4AAC218EF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3198395-BE43-49B5-B87B-50731EE8B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2AE9BF6-E7B1-4156-9367-E0EFEE89F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3167991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9453C1A7-D654-42BB-B894-F036D1B636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6AB4A41-9C55-435E-ABDB-EDCE7F95B1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CED2A58-FC10-4C06-9AB0-3BD059AF44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83966A-B911-4BEE-A071-26F2A82D024D}" type="datetimeFigureOut">
              <a:rPr lang="de-DE" smtClean="0"/>
              <a:t>06.10.2026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29C9BAF-FCD3-4FBC-9393-5A8FB6A055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009461C-2310-4045-9057-638007F2AB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B7975E-D135-49B6-851C-F532A2C92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68394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e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0869FDD-1EB6-47C3-8E32-E9C1441A2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1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A6B92A6-D3AC-47EB-AB5E-F4BCF14AC794}"/>
              </a:ext>
            </a:extLst>
          </p:cNvPr>
          <p:cNvSpPr/>
          <p:nvPr/>
        </p:nvSpPr>
        <p:spPr>
          <a:xfrm>
            <a:off x="-1028700" y="1962150"/>
            <a:ext cx="14573250" cy="276225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DED100-2DD3-4BD3-8075-91CF00217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Computerwürmer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55F050-7E9D-4EB2-9E93-DAF0D9889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Wenn sich Malware selbst verbreitet</a:t>
            </a:r>
            <a:endParaRPr lang="de-DE" sz="1050" b="1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38148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9BD698D-F054-4899-8026-7CFFCE0B6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Was ist ein Computerwurm? (Definition)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B5E3E06-EF80-4BC4-99FF-2DB73AAE28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numCol="1" anchor="ctr"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Form von Schadsoftware (Malware)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Eigenständiges Programm, braucht keine Wirtsdatei (anders als ein Virus)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Vervielfältigt sich selbst über Netzwerke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Nutzt Sicherheitslücken in Software und Betriebssystemen</a:t>
            </a:r>
          </a:p>
          <a:p>
            <a:r>
              <a:rPr lang="de-DE" sz="2400" dirty="0">
                <a:solidFill>
                  <a:schemeClr val="bg1"/>
                </a:solidFill>
              </a:rPr>
              <a:t>Kurzes historisches Beispiel (z. B. ILOVEYOU 2000)</a:t>
            </a:r>
          </a:p>
        </p:txBody>
      </p:sp>
    </p:spTree>
    <p:extLst>
      <p:ext uri="{BB962C8B-B14F-4D97-AF65-F5344CB8AC3E}">
        <p14:creationId xmlns:p14="http://schemas.microsoft.com/office/powerpoint/2010/main" val="922889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2C9512E-C5D5-43F7-A12E-28AA0FCDE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Was macht ein Wurm? (Funktionsweise)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D353BAE-532C-4CFC-8EE0-3A2CC02738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Verbreitet sich automatisch, ohne Zutun des Nutzers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Überlastet Systemressourcen (Speicher, Bandbreite)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Führt Schadfunktionen (Payload) aus: Backdoors öffnen, Dateien löschen, weitere Malware installieren</a:t>
            </a:r>
          </a:p>
        </p:txBody>
      </p:sp>
    </p:spTree>
    <p:extLst>
      <p:ext uri="{BB962C8B-B14F-4D97-AF65-F5344CB8AC3E}">
        <p14:creationId xmlns:p14="http://schemas.microsoft.com/office/powerpoint/2010/main" val="275423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ECB7FEF8-39CF-42A1-BC84-93E1126A6E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1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hteck 4">
            <a:extLst>
              <a:ext uri="{FF2B5EF4-FFF2-40B4-BE49-F238E27FC236}">
                <a16:creationId xmlns:a16="http://schemas.microsoft.com/office/drawing/2014/main" id="{3D566ADD-ADF9-451F-988F-275998A91563}"/>
              </a:ext>
            </a:extLst>
          </p:cNvPr>
          <p:cNvSpPr/>
          <p:nvPr/>
        </p:nvSpPr>
        <p:spPr>
          <a:xfrm>
            <a:off x="375104" y="183810"/>
            <a:ext cx="11441792" cy="479459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EC8903-3139-43A2-B8F0-FDC56F25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Wie kann man sich infizieren? (Infektionswege)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CF748E-BD2F-4C65-8B16-798AFC04F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Sicherheitslücken in Software oder Betriebssystem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Weiterverbreitung über das Netzwerk auf andere Geräte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Phishing-Mails: Wurm verschickt sich an alle Kontakte</a:t>
            </a:r>
          </a:p>
        </p:txBody>
      </p:sp>
    </p:spTree>
    <p:extLst>
      <p:ext uri="{BB962C8B-B14F-4D97-AF65-F5344CB8AC3E}">
        <p14:creationId xmlns:p14="http://schemas.microsoft.com/office/powerpoint/2010/main" val="31512870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6D108182-82C6-4518-8221-BB31D299A2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1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E0CAB26F-C8EB-44E7-A311-4DB6C9391B35}"/>
              </a:ext>
            </a:extLst>
          </p:cNvPr>
          <p:cNvSpPr/>
          <p:nvPr/>
        </p:nvSpPr>
        <p:spPr>
          <a:xfrm>
            <a:off x="375104" y="183810"/>
            <a:ext cx="11441792" cy="479459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6EC8903-3139-43A2-B8F0-FDC56F256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Wie kann man sich infizieren? (Infektionswege)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1CF748E-BD2F-4C65-8B16-798AFC04F2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Instant Messaging und soziale Netzwerke (bösartige Links)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USB-Sticks, Festplatten, Wechseldatenträger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dirty="0">
                <a:solidFill>
                  <a:schemeClr val="bg1"/>
                </a:solidFill>
              </a:rPr>
              <a:t>Mobilgeräte: Handywürmer über Mobilfunk oder Bluetooth</a:t>
            </a:r>
          </a:p>
        </p:txBody>
      </p:sp>
    </p:spTree>
    <p:extLst>
      <p:ext uri="{BB962C8B-B14F-4D97-AF65-F5344CB8AC3E}">
        <p14:creationId xmlns:p14="http://schemas.microsoft.com/office/powerpoint/2010/main" val="29299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75198-B279-4069-A906-7D05784F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Wie kann man sich schützen? (Schutzmaßnahmen)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80F048-7035-47F0-A2F5-5AD8E580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de-DE" sz="2400" i="1" dirty="0">
                <a:solidFill>
                  <a:schemeClr val="bg1"/>
                </a:solidFill>
              </a:rPr>
              <a:t>E-Mail: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Spamfilter einsetzen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Anhänge und Links nur von vertrauenswürdigen Quellen öffnen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Awareness-Schulungen für Mitarbeiter/Schüler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i="1" dirty="0">
                <a:solidFill>
                  <a:schemeClr val="bg1"/>
                </a:solidFill>
              </a:rPr>
              <a:t>Regelmäßige Updates: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Sicherheits-Patches schließen Lücken</a:t>
            </a:r>
          </a:p>
          <a:p>
            <a:pPr marL="0" indent="0">
              <a:buNone/>
            </a:pPr>
            <a:endParaRPr lang="de-D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3706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675198-B279-4069-A906-7D05784FB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Wie kann man sich schützen? (Schutzmaßnahmen)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E80F048-7035-47F0-A2F5-5AD8E580C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ctr">
            <a:normAutofit/>
          </a:bodyPr>
          <a:lstStyle/>
          <a:p>
            <a:pPr rtl="0">
              <a:buFont typeface="Arial" panose="020B0604020202020204" pitchFamily="34" charset="0"/>
              <a:buChar char="•"/>
            </a:pPr>
            <a:r>
              <a:rPr lang="de-DE" sz="2400" i="1" dirty="0">
                <a:solidFill>
                  <a:schemeClr val="bg1"/>
                </a:solidFill>
              </a:rPr>
              <a:t>Antiviren-Software: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Scannt Dateien und Downloads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Kann Würmer entfernen</a:t>
            </a:r>
          </a:p>
          <a:p>
            <a:pPr rtl="0">
              <a:buFont typeface="Arial" panose="020B0604020202020204" pitchFamily="34" charset="0"/>
              <a:buChar char="•"/>
            </a:pPr>
            <a:r>
              <a:rPr lang="de-DE" sz="2400" i="1" dirty="0">
                <a:solidFill>
                  <a:schemeClr val="bg1"/>
                </a:solidFill>
              </a:rPr>
              <a:t>Firewall:</a:t>
            </a:r>
            <a:r>
              <a:rPr lang="de-DE" sz="2400" dirty="0">
                <a:solidFill>
                  <a:schemeClr val="bg1"/>
                </a:solidFill>
              </a:rPr>
              <a:t> 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Schutzbarriere zwischen internem und externem Netzwerk</a:t>
            </a:r>
          </a:p>
          <a:p>
            <a:pPr marL="742950" lvl="1" indent="-285750" rtl="0">
              <a:buFont typeface="Arial" panose="020B0604020202020204" pitchFamily="34" charset="0"/>
              <a:buChar char="•"/>
            </a:pPr>
            <a:r>
              <a:rPr lang="de-DE" dirty="0">
                <a:solidFill>
                  <a:schemeClr val="bg1"/>
                </a:solidFill>
              </a:rPr>
              <a:t>Erschwert das Eindringen</a:t>
            </a:r>
          </a:p>
          <a:p>
            <a:pPr marL="0" indent="0">
              <a:buNone/>
            </a:pPr>
            <a:endParaRPr lang="de-DE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820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>
            <a:extLst>
              <a:ext uri="{FF2B5EF4-FFF2-40B4-BE49-F238E27FC236}">
                <a16:creationId xmlns:a16="http://schemas.microsoft.com/office/drawing/2014/main" id="{B0869FDD-1EB6-47C3-8E32-E9C1441A28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812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8A6B92A6-D3AC-47EB-AB5E-F4BCF14AC794}"/>
              </a:ext>
            </a:extLst>
          </p:cNvPr>
          <p:cNvSpPr/>
          <p:nvPr/>
        </p:nvSpPr>
        <p:spPr>
          <a:xfrm>
            <a:off x="-1028700" y="1962150"/>
            <a:ext cx="14573250" cy="2762250"/>
          </a:xfrm>
          <a:prstGeom prst="rect">
            <a:avLst/>
          </a:prstGeom>
          <a:solidFill>
            <a:schemeClr val="tx1">
              <a:lumMod val="85000"/>
              <a:lumOff val="15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ADED100-2DD3-4BD3-8075-91CF002176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de-DE" dirty="0">
                <a:solidFill>
                  <a:schemeClr val="bg1"/>
                </a:solidFill>
                <a:latin typeface="Arial Black" panose="020B0A04020102020204" pitchFamily="34" charset="0"/>
              </a:rPr>
              <a:t>Computerwürmer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F855F050-7E9D-4EB2-9E93-DAF0D988932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sz="2800" dirty="0">
                <a:solidFill>
                  <a:schemeClr val="bg1"/>
                </a:solidFill>
              </a:rPr>
              <a:t>Wenn sich Malware selbst verbreitet</a:t>
            </a:r>
            <a:endParaRPr lang="de-DE" sz="1050" b="1" i="0" dirty="0">
              <a:solidFill>
                <a:schemeClr val="bg1"/>
              </a:solidFill>
              <a:effectLst/>
              <a:latin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682326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</Words>
  <Application>Microsoft Office PowerPoint</Application>
  <PresentationFormat>Breitbild</PresentationFormat>
  <Paragraphs>39</Paragraphs>
  <Slides>8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8</vt:i4>
      </vt:variant>
    </vt:vector>
  </HeadingPairs>
  <TitlesOfParts>
    <vt:vector size="14" baseType="lpstr">
      <vt:lpstr>Arial</vt:lpstr>
      <vt:lpstr>Arial Black</vt:lpstr>
      <vt:lpstr>Calibri</vt:lpstr>
      <vt:lpstr>Calibri Light</vt:lpstr>
      <vt:lpstr>Segoe UI</vt:lpstr>
      <vt:lpstr>Office</vt:lpstr>
      <vt:lpstr>Computerwürmer</vt:lpstr>
      <vt:lpstr>Was ist ein Computerwurm? (Definition)</vt:lpstr>
      <vt:lpstr>Was macht ein Wurm? (Funktionsweise)</vt:lpstr>
      <vt:lpstr>Wie kann man sich infizieren? (Infektionswege)</vt:lpstr>
      <vt:lpstr>Wie kann man sich infizieren? (Infektionswege)</vt:lpstr>
      <vt:lpstr>Wie kann man sich schützen? (Schutzmaßnahmen)</vt:lpstr>
      <vt:lpstr>Wie kann man sich schützen? (Schutzmaßnahmen)</vt:lpstr>
      <vt:lpstr>Computerwürmer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Finn Martin</dc:creator>
  <cp:lastModifiedBy>Finn Martin</cp:lastModifiedBy>
  <cp:revision>4</cp:revision>
  <dcterms:created xsi:type="dcterms:W3CDTF">2026-10-06T09:37:46Z</dcterms:created>
  <dcterms:modified xsi:type="dcterms:W3CDTF">2026-10-06T10:30:16Z</dcterms:modified>
</cp:coreProperties>
</file>